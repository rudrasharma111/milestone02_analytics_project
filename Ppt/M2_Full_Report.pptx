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  <p:sldId id="273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35b41f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35b41f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52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l Templat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0" name="Google Shape;2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25" name="Google Shape;2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32" name="Google Shape;3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5" name="Google Shape;3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pic>
        <p:nvPicPr>
          <p:cNvPr id="43" name="Google Shape;4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47" name="Google Shape;4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/>
          </a:blip>
          <a:srcRect l="34491" t="7982" b="9298"/>
          <a:stretch/>
        </p:blipFill>
        <p:spPr>
          <a:xfrm>
            <a:off x="0" y="0"/>
            <a:ext cx="4073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280945" y="1025953"/>
            <a:ext cx="3159300" cy="10347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E-Commerce Analytics Project</a:t>
            </a:r>
            <a:endParaRPr sz="16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600" b="1" dirty="0">
              <a:solidFill>
                <a:schemeClr val="lt1"/>
              </a:solidFill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975" y="1555875"/>
            <a:ext cx="4887674" cy="17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>
            <a:spLocks noGrp="1"/>
          </p:cNvSpPr>
          <p:nvPr>
            <p:ph type="title" idx="4294967295"/>
          </p:nvPr>
        </p:nvSpPr>
        <p:spPr>
          <a:xfrm>
            <a:off x="387900" y="1999050"/>
            <a:ext cx="364327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990"/>
            </a:pPr>
            <a:r>
              <a:rPr lang="en" sz="1500" dirty="0">
                <a:solidFill>
                  <a:schemeClr val="lt1"/>
                </a:solidFill>
              </a:rPr>
              <a:t>M2 –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Docker, DBT,SQL,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Python,Semantic,Power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</a:t>
            </a:r>
            <a:br>
              <a:rPr lang="en-US" sz="14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1500" dirty="0">
                <a:solidFill>
                  <a:schemeClr val="lt1"/>
                </a:solidFill>
              </a:rPr>
              <a:t>Reporting &amp; Dashboard Layer</a:t>
            </a:r>
            <a:endParaRPr sz="1500" dirty="0">
              <a:solidFill>
                <a:schemeClr val="lt1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423117" y="3033798"/>
            <a:ext cx="23886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Rudra Sharma</a:t>
            </a:r>
            <a:endParaRPr sz="172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Agenda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/>
              <a:t>What this project does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/>
              <a:t>How data flows from raw tables to dashboard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/>
              <a:t>The Gold layer — fact and dimension tables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/>
              <a:t>Dataset numbers at a glance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/>
              <a:t>Who the two dashboards are for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/>
              <a:t>Three real patterns we found in the data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/>
              <a:t>Dashboard walkthrough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/>
              <a:t>How a metric is actually calculated (DAX)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/>
              <a:t>Known limitations and tech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What This Project Does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419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Aft>
                <a:spcPts val="900"/>
              </a:spcAft>
              <a:buNone/>
            </a:pPr>
            <a:r>
              <a:rPr lang="en" sz="900" dirty="0"/>
              <a:t>This milestone turns the Gold layer from M1 into dashboards that answer real business questions, for two different audiences.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900" b="1" dirty="0"/>
              <a:t>Leadership / Business — revenue, growth, customer trends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900" b="1" dirty="0"/>
              <a:t>Operations / Analyst — fulfillment, campaigns, inventory, returns</a:t>
            </a:r>
          </a:p>
          <a:p>
            <a:pPr marL="0" lvl="0" indent="0" algn="l" rt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" sz="900" i="1" dirty="0"/>
              <a:t>Everything is backed by a semantic layer, so both dashboards pull from the same metric definitions — no two teams seeing different numbers for the same thing.</a:t>
            </a:r>
          </a:p>
          <a:p>
            <a:pPr marL="0" lvl="0" indent="0" algn="l" rtl="0">
              <a:spcBef>
                <a:spcPts val="1000"/>
              </a:spcBef>
              <a:spcAft>
                <a:spcPts val="600"/>
              </a:spcAft>
              <a:buNone/>
            </a:pPr>
            <a:endParaRPr lang="en" sz="9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12DBBF-3464-522E-5CED-E80B0206DEF5}"/>
              </a:ext>
            </a:extLst>
          </p:cNvPr>
          <p:cNvSpPr txBox="1"/>
          <p:nvPr/>
        </p:nvSpPr>
        <p:spPr>
          <a:xfrm>
            <a:off x="1999251" y="2252546"/>
            <a:ext cx="49070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</a:t>
            </a:r>
            <a:r>
              <a:rPr lang="en-IN" dirty="0" err="1"/>
              <a:t>dim_customers</a:t>
            </a:r>
            <a:endParaRPr lang="en-IN" dirty="0"/>
          </a:p>
          <a:p>
            <a:r>
              <a:rPr lang="en-IN" dirty="0"/>
              <a:t>                                          |</a:t>
            </a:r>
          </a:p>
          <a:p>
            <a:r>
              <a:rPr lang="en-IN" dirty="0" err="1"/>
              <a:t>dim_campaigns</a:t>
            </a:r>
            <a:r>
              <a:rPr lang="en-IN" dirty="0"/>
              <a:t> ─── </a:t>
            </a:r>
            <a:r>
              <a:rPr lang="en-IN" dirty="0" err="1"/>
              <a:t>fct_orders</a:t>
            </a:r>
            <a:r>
              <a:rPr lang="en-IN" dirty="0"/>
              <a:t> ─── </a:t>
            </a:r>
            <a:r>
              <a:rPr lang="en-IN" dirty="0" err="1"/>
              <a:t>dim_products</a:t>
            </a:r>
            <a:endParaRPr lang="en-IN" dirty="0"/>
          </a:p>
          <a:p>
            <a:r>
              <a:rPr lang="en-IN" dirty="0"/>
              <a:t>                                          |</a:t>
            </a:r>
          </a:p>
          <a:p>
            <a:r>
              <a:rPr lang="en-IN" dirty="0"/>
              <a:t>                                   </a:t>
            </a:r>
            <a:r>
              <a:rPr lang="en-IN" dirty="0" err="1"/>
              <a:t>dim_date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05285-88FA-657D-4E40-AC4CFE603A87}"/>
              </a:ext>
            </a:extLst>
          </p:cNvPr>
          <p:cNvSpPr txBox="1"/>
          <p:nvPr/>
        </p:nvSpPr>
        <p:spPr>
          <a:xfrm>
            <a:off x="71801" y="3366090"/>
            <a:ext cx="9986598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900"/>
              </a:spcAft>
            </a:pPr>
            <a:r>
              <a:rPr lang="en" sz="1050" dirty="0"/>
              <a:t>The Gold layer is built as a Star Schema — one fact table in the middle, surrounded by dimension tables that describe it.</a:t>
            </a:r>
          </a:p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sz="1050" b="1" dirty="0"/>
              <a:t>fct_orders — the center. One row per order line.</a:t>
            </a:r>
          </a:p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sz="1050" b="1" dirty="0"/>
              <a:t>dim_customers </a:t>
            </a:r>
            <a:r>
              <a:rPr lang="en" sz="1050" dirty="0"/>
              <a:t>— who placed the order</a:t>
            </a:r>
          </a:p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sz="1050" b="1" dirty="0"/>
              <a:t>dim_products </a:t>
            </a:r>
            <a:r>
              <a:rPr lang="en" sz="1050" dirty="0"/>
              <a:t>— what was bought</a:t>
            </a:r>
          </a:p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sz="1050" b="1" dirty="0"/>
              <a:t>dim_campaigns </a:t>
            </a:r>
            <a:r>
              <a:rPr lang="en" sz="1050" dirty="0"/>
              <a:t>— which campaign it came from (if any)</a:t>
            </a:r>
          </a:p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sz="1050" b="1" dirty="0"/>
              <a:t>dim_date </a:t>
            </a:r>
            <a:r>
              <a:rPr lang="en" sz="1050" dirty="0"/>
              <a:t>— when it happened, with year/month/quarter hierarchy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 dirty="0"/>
              <a:t>How Data Moves: M1 to M2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157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Aft>
                <a:spcPts val="300"/>
              </a:spcAft>
              <a:buNone/>
            </a:pPr>
            <a:r>
              <a:rPr lang="en" sz="1100" b="1" dirty="0"/>
              <a:t>PostgreSQL Raw Tables (Bronze)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100" dirty="0"/>
              <a:t>dbt Staging — stg_orders, stg_customers, stg_products, stg_campaigns</a:t>
            </a:r>
          </a:p>
          <a:p>
            <a:pPr marL="0" lvl="0" indent="0" algn="l" rtl="0">
              <a:spcAft>
                <a:spcPts val="300"/>
              </a:spcAft>
              <a:buNone/>
            </a:pPr>
            <a:r>
              <a:rPr lang="en" sz="1100" b="1" dirty="0"/>
              <a:t>dbt Intermediate — int_orders (joins orders + products + campaigns, calculates total_amount)</a:t>
            </a:r>
          </a:p>
          <a:p>
            <a:pPr marL="0" lvl="0" indent="0" algn="l" rtl="0">
              <a:spcAft>
                <a:spcPts val="300"/>
              </a:spcAft>
              <a:buNone/>
            </a:pPr>
            <a:r>
              <a:rPr lang="en" sz="1100" b="1" dirty="0"/>
              <a:t>dbt Marts — fct_orders (incremental) + dim_customers + dim_products + dim_campaigns + dim_date</a:t>
            </a:r>
          </a:p>
          <a:p>
            <a:pPr marL="0" lvl="0" indent="0" algn="l" rtl="0">
              <a:spcAft>
                <a:spcPts val="300"/>
              </a:spcAft>
              <a:buNone/>
            </a:pPr>
            <a:r>
              <a:rPr lang="en" sz="1100" b="1" dirty="0"/>
              <a:t>Semantic Layer — semantic_layer.yml </a:t>
            </a:r>
          </a:p>
          <a:p>
            <a:pPr marL="0" lvl="0" indent="0" algn="l" rtl="0">
              <a:spcAft>
                <a:spcPts val="300"/>
              </a:spcAft>
              <a:buNone/>
            </a:pPr>
            <a:r>
              <a:rPr lang="en" sz="1100" b="1" dirty="0"/>
              <a:t>Power BI Dashboard — BERT_Dashboard.pbix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1E78C24-E611-A237-59A2-909E115542BC}"/>
              </a:ext>
            </a:extLst>
          </p:cNvPr>
          <p:cNvSpPr txBox="1">
            <a:spLocks/>
          </p:cNvSpPr>
          <p:nvPr/>
        </p:nvSpPr>
        <p:spPr>
          <a:xfrm>
            <a:off x="311700" y="235188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lang="en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21E4DB8-90F7-1D08-32FE-F9A40793EA2D}"/>
              </a:ext>
            </a:extLst>
          </p:cNvPr>
          <p:cNvSpPr txBox="1">
            <a:spLocks/>
          </p:cNvSpPr>
          <p:nvPr/>
        </p:nvSpPr>
        <p:spPr>
          <a:xfrm>
            <a:off x="311700" y="23951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" dirty="0"/>
              <a:t>Tech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965231-42DB-646A-7975-8B219ABE1E88}"/>
              </a:ext>
            </a:extLst>
          </p:cNvPr>
          <p:cNvSpPr txBox="1"/>
          <p:nvPr/>
        </p:nvSpPr>
        <p:spPr>
          <a:xfrm>
            <a:off x="394010" y="2967842"/>
            <a:ext cx="589776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b="1" dirty="0"/>
              <a:t>PostgreSQL </a:t>
            </a:r>
            <a:r>
              <a:rPr lang="en" dirty="0"/>
              <a:t>— the data warehouse, raw and transformed tables</a:t>
            </a:r>
          </a:p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b="1" dirty="0"/>
              <a:t>Python + Pydantic </a:t>
            </a:r>
            <a:r>
              <a:rPr lang="en" dirty="0"/>
              <a:t>— raw ingestion and validation</a:t>
            </a:r>
          </a:p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b="1" dirty="0"/>
              <a:t>dbt </a:t>
            </a:r>
            <a:r>
              <a:rPr lang="en" dirty="0"/>
              <a:t>— transformations, testing, documentation</a:t>
            </a:r>
          </a:p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b="1" dirty="0"/>
              <a:t>(semantic_layer.yml) </a:t>
            </a:r>
            <a:r>
              <a:rPr lang="en" dirty="0"/>
              <a:t>— one source of truth for every metric</a:t>
            </a:r>
          </a:p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b="1" dirty="0"/>
              <a:t>Power BI </a:t>
            </a:r>
            <a:r>
              <a:rPr lang="en" dirty="0"/>
              <a:t>— the dashboards themselves</a:t>
            </a:r>
          </a:p>
          <a:p>
            <a:pPr marL="457200" lvl="0" indent="-342900">
              <a:spcAft>
                <a:spcPts val="600"/>
              </a:spcAft>
              <a:buFont typeface="Arial"/>
              <a:buChar char="•"/>
            </a:pPr>
            <a:r>
              <a:rPr lang="en" b="1" dirty="0"/>
              <a:t>Docker </a:t>
            </a:r>
            <a:r>
              <a:rPr lang="en" dirty="0"/>
              <a:t>— runs PostgreSQL locally, consistent every time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15509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/>
              <a:t># Project Structure</a:t>
            </a:r>
            <a:br>
              <a:rPr lang="en-IN" dirty="0"/>
            </a:br>
            <a:endParaRPr lang="en" b="1" dirty="0"/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185855" y="74341"/>
            <a:ext cx="3479180" cy="4524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br>
              <a:rPr lang="en-IN" sz="1100" dirty="0"/>
            </a:br>
            <a:endParaRPr lang="en-IN" sz="1100" dirty="0"/>
          </a:p>
          <a:p>
            <a:r>
              <a:rPr lang="en-IN" sz="1100" dirty="0" err="1"/>
              <a:t>ecommerce_analytics</a:t>
            </a:r>
            <a:r>
              <a:rPr lang="en-IN" sz="1100" dirty="0"/>
              <a:t>/</a:t>
            </a:r>
          </a:p>
          <a:p>
            <a:r>
              <a:rPr lang="en-IN" sz="1100" dirty="0"/>
              <a:t>├── models/</a:t>
            </a:r>
          </a:p>
          <a:p>
            <a:r>
              <a:rPr lang="en-IN" sz="1100" dirty="0"/>
              <a:t>│   ├── staging/</a:t>
            </a:r>
          </a:p>
          <a:p>
            <a:r>
              <a:rPr lang="en-IN" sz="1100" dirty="0"/>
              <a:t>│   │   ├── </a:t>
            </a:r>
            <a:r>
              <a:rPr lang="en-IN" sz="1100" dirty="0" err="1"/>
              <a:t>stg_orders.sql</a:t>
            </a:r>
            <a:endParaRPr lang="en-IN" sz="1100" dirty="0"/>
          </a:p>
          <a:p>
            <a:r>
              <a:rPr lang="en-IN" sz="1100" dirty="0"/>
              <a:t>│   │   ├── </a:t>
            </a:r>
            <a:r>
              <a:rPr lang="en-IN" sz="1100" dirty="0" err="1"/>
              <a:t>stg_customers.sql</a:t>
            </a:r>
            <a:endParaRPr lang="en-IN" sz="1100" dirty="0"/>
          </a:p>
          <a:p>
            <a:r>
              <a:rPr lang="en-IN" sz="1100" dirty="0"/>
              <a:t>│   │   ├── </a:t>
            </a:r>
            <a:r>
              <a:rPr lang="en-IN" sz="1100" dirty="0" err="1"/>
              <a:t>stg_products.sql</a:t>
            </a:r>
            <a:endParaRPr lang="en-IN" sz="1100" dirty="0"/>
          </a:p>
          <a:p>
            <a:r>
              <a:rPr lang="en-IN" sz="1100" dirty="0"/>
              <a:t>│   │   └── </a:t>
            </a:r>
            <a:r>
              <a:rPr lang="en-IN" sz="1100" dirty="0" err="1"/>
              <a:t>stg_campaigns.sql</a:t>
            </a:r>
            <a:endParaRPr lang="en-IN" sz="1100" dirty="0"/>
          </a:p>
          <a:p>
            <a:r>
              <a:rPr lang="en-IN" sz="1100" dirty="0"/>
              <a:t>│   ├── intermediate/</a:t>
            </a:r>
          </a:p>
          <a:p>
            <a:r>
              <a:rPr lang="en-IN" sz="1100" dirty="0"/>
              <a:t>│   │   └── </a:t>
            </a:r>
            <a:r>
              <a:rPr lang="en-IN" sz="1100" dirty="0" err="1"/>
              <a:t>int_orders.sql</a:t>
            </a:r>
            <a:endParaRPr lang="en-IN" sz="1100" dirty="0"/>
          </a:p>
          <a:p>
            <a:r>
              <a:rPr lang="en-IN" sz="1100" dirty="0"/>
              <a:t>│   └── marts/</a:t>
            </a:r>
          </a:p>
          <a:p>
            <a:r>
              <a:rPr lang="en-IN" sz="1100" dirty="0"/>
              <a:t>│       ├── </a:t>
            </a:r>
            <a:r>
              <a:rPr lang="en-IN" sz="1100" dirty="0" err="1"/>
              <a:t>fct_orders.sql</a:t>
            </a:r>
            <a:endParaRPr lang="en-IN" sz="1100" dirty="0"/>
          </a:p>
          <a:p>
            <a:r>
              <a:rPr lang="en-IN" sz="1100" dirty="0"/>
              <a:t>│       ├── </a:t>
            </a:r>
            <a:r>
              <a:rPr lang="en-IN" sz="1100" dirty="0" err="1"/>
              <a:t>dim_customers.sql</a:t>
            </a:r>
            <a:endParaRPr lang="en-IN" sz="1100" dirty="0"/>
          </a:p>
          <a:p>
            <a:r>
              <a:rPr lang="en-IN" sz="1100" dirty="0"/>
              <a:t>│       ├── </a:t>
            </a:r>
            <a:r>
              <a:rPr lang="en-IN" sz="1100" dirty="0" err="1"/>
              <a:t>dim_products.sql</a:t>
            </a:r>
            <a:endParaRPr lang="en-IN" sz="1100" dirty="0"/>
          </a:p>
          <a:p>
            <a:r>
              <a:rPr lang="en-IN" sz="1100" dirty="0"/>
              <a:t>│       ├── </a:t>
            </a:r>
            <a:r>
              <a:rPr lang="en-IN" sz="1100" dirty="0" err="1"/>
              <a:t>dim_campaigns.sql</a:t>
            </a:r>
            <a:endParaRPr lang="en-IN" sz="1100" dirty="0"/>
          </a:p>
          <a:p>
            <a:r>
              <a:rPr lang="en-IN" sz="1100" dirty="0"/>
              <a:t>│       ├── </a:t>
            </a:r>
            <a:r>
              <a:rPr lang="en-IN" sz="1100" dirty="0" err="1"/>
              <a:t>dim_date.sql</a:t>
            </a:r>
            <a:endParaRPr lang="en-IN" sz="1100" dirty="0"/>
          </a:p>
          <a:p>
            <a:r>
              <a:rPr lang="en-IN" sz="1100" dirty="0"/>
              <a:t>│       └── </a:t>
            </a:r>
            <a:r>
              <a:rPr lang="en-IN" sz="1100" dirty="0" err="1"/>
              <a:t>metricflow_time_spine.sql</a:t>
            </a:r>
            <a:endParaRPr lang="en-IN" sz="1100" dirty="0"/>
          </a:p>
          <a:p>
            <a:r>
              <a:rPr lang="en-IN" sz="1100" dirty="0"/>
              <a:t>├── analyses/</a:t>
            </a:r>
          </a:p>
          <a:p>
            <a:r>
              <a:rPr lang="en-IN" sz="1100" dirty="0"/>
              <a:t>│   └── </a:t>
            </a:r>
            <a:r>
              <a:rPr lang="en-IN" sz="1100" dirty="0" err="1"/>
              <a:t>dashboard_queries.sql</a:t>
            </a:r>
            <a:endParaRPr lang="en-IN" sz="1100" dirty="0"/>
          </a:p>
          <a:p>
            <a:r>
              <a:rPr lang="en-IN" sz="1100" dirty="0"/>
              <a:t>├── </a:t>
            </a:r>
            <a:r>
              <a:rPr lang="en-IN" sz="1100" dirty="0" err="1"/>
              <a:t>semantic_layer.yml</a:t>
            </a:r>
            <a:endParaRPr lang="en-IN" sz="1100" dirty="0"/>
          </a:p>
          <a:p>
            <a:r>
              <a:rPr lang="en-IN" sz="1100" dirty="0"/>
              <a:t>├── </a:t>
            </a:r>
            <a:r>
              <a:rPr lang="en-IN" sz="1100" dirty="0" err="1"/>
              <a:t>dbt_project.yml</a:t>
            </a:r>
            <a:endParaRPr lang="en-IN" sz="1100" dirty="0"/>
          </a:p>
          <a:p>
            <a:r>
              <a:rPr lang="en-IN" sz="1100" dirty="0"/>
              <a:t>├── ingestion.py</a:t>
            </a:r>
          </a:p>
          <a:p>
            <a:r>
              <a:rPr lang="en-IN" sz="1100" dirty="0"/>
              <a:t>├── </a:t>
            </a:r>
            <a:r>
              <a:rPr lang="en-IN" sz="1100" dirty="0" err="1"/>
              <a:t>BERT_Dashboard.pbix</a:t>
            </a:r>
            <a:endParaRPr lang="en-IN" sz="1100" dirty="0"/>
          </a:p>
          <a:p>
            <a:r>
              <a:rPr lang="en-IN" sz="1100" dirty="0"/>
              <a:t>└── README.md</a:t>
            </a:r>
          </a:p>
          <a:p>
            <a:pPr marL="152400" indent="0">
              <a:buNone/>
            </a:pPr>
            <a:br>
              <a:rPr lang="en-IN" sz="1100" dirty="0"/>
            </a:br>
            <a:endParaRPr lang="en-IN" sz="1100" dirty="0"/>
          </a:p>
          <a:p>
            <a:pPr marL="152400" indent="0">
              <a:buNone/>
            </a:pPr>
            <a:endParaRPr lang="en-IN" sz="1100" dirty="0"/>
          </a:p>
          <a:p>
            <a:pPr marL="0" lvl="0" indent="0" algn="l" rtl="0">
              <a:spcAft>
                <a:spcPts val="900"/>
              </a:spcAft>
              <a:buNone/>
            </a:pPr>
            <a:endParaRPr lang="en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fct_orders — The Fact Table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500"/>
              </a:spcAft>
              <a:buNone/>
            </a:pPr>
            <a:r>
              <a:rPr lang="en" sz="1600" b="1" dirty="0"/>
              <a:t>Grain: 1 row = 1 unique order line</a:t>
            </a:r>
          </a:p>
          <a:p>
            <a:pPr marL="0" lvl="0" indent="0" algn="l" rtl="0">
              <a:spcAft>
                <a:spcPts val="500"/>
              </a:spcAft>
              <a:buNone/>
            </a:pPr>
            <a:r>
              <a:rPr lang="en" sz="1600" b="1" dirty="0"/>
              <a:t>Unique key: MD5(order_id + customer_id + product_id)</a:t>
            </a:r>
          </a:p>
          <a:p>
            <a:pPr marL="0" lvl="0" indent="0" algn="l" rtl="0">
              <a:spcAft>
                <a:spcPts val="900"/>
              </a:spcAft>
              <a:buNone/>
            </a:pPr>
            <a:r>
              <a:rPr lang="en" sz="1600" b="1" dirty="0"/>
              <a:t>Materialization: Incremental — only new rows load on each dbt run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 b="1" dirty="0"/>
              <a:t>total_amount </a:t>
            </a:r>
            <a:r>
              <a:rPr lang="en" sz="1600" dirty="0"/>
              <a:t>= quantity × unit_price × (1 − discount/100)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 b="1" dirty="0"/>
              <a:t>Total_revenue_amount </a:t>
            </a:r>
            <a:r>
              <a:rPr lang="en" sz="1600" dirty="0"/>
              <a:t>= total_amount if Delivered, else 0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 b="1" dirty="0"/>
              <a:t>is_delivered_order / is_returned_order </a:t>
            </a:r>
            <a:r>
              <a:rPr lang="en" sz="1600" dirty="0"/>
              <a:t>— simple 1/0 flags used by most KPIs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r>
              <a:rPr lang="en" sz="1600" b="1" dirty="0"/>
              <a:t>discount_bucket </a:t>
            </a:r>
            <a:r>
              <a:rPr lang="en" sz="1600" dirty="0"/>
              <a:t>— 0–10% / 11–20% / 21–30% / 30%+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The Dimension Tables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500"/>
              </a:spcAft>
              <a:buNone/>
            </a:pPr>
            <a:r>
              <a:rPr lang="en" sz="1500" b="1"/>
              <a:t>dim_customers</a:t>
            </a:r>
          </a:p>
          <a:p>
            <a:pPr marL="457200" lvl="0" indent="-342900" algn="l" rtl="0">
              <a:spcAft>
                <a:spcPts val="350"/>
              </a:spcAft>
              <a:buFont typeface="Arial"/>
              <a:buChar char="•"/>
            </a:pPr>
            <a:r>
              <a:rPr lang="en" sz="1300"/>
              <a:t>customer_id, name, age_group, gender, city, state</a:t>
            </a:r>
          </a:p>
          <a:p>
            <a:pPr marL="457200" lvl="0" indent="-342900" algn="l" rtl="0">
              <a:spcAft>
                <a:spcPts val="350"/>
              </a:spcAft>
              <a:buFont typeface="Arial"/>
              <a:buChar char="•"/>
            </a:pPr>
            <a:r>
              <a:rPr lang="en" sz="1300"/>
              <a:t>membership_type (Gold/Silver/Bronze)</a:t>
            </a:r>
          </a:p>
          <a:p>
            <a:pPr marL="457200" lvl="0" indent="-342900" algn="l" rtl="0">
              <a:spcAft>
                <a:spcPts val="700"/>
              </a:spcAft>
              <a:buFont typeface="Arial"/>
              <a:buChar char="•"/>
            </a:pPr>
            <a:r>
              <a:rPr lang="en" sz="1300"/>
              <a:t>customer_segment (Premium/Regular/Budget)</a:t>
            </a:r>
          </a:p>
          <a:p>
            <a:pPr marL="0" lvl="0" indent="0" algn="l" rtl="0">
              <a:spcAft>
                <a:spcPts val="500"/>
              </a:spcAft>
              <a:buNone/>
            </a:pPr>
            <a:r>
              <a:rPr lang="en" sz="1500" b="1"/>
              <a:t>dim_products</a:t>
            </a:r>
          </a:p>
          <a:p>
            <a:pPr marL="457200" lvl="0" indent="-342900" algn="l" rtl="0">
              <a:spcAft>
                <a:spcPts val="350"/>
              </a:spcAft>
              <a:buFont typeface="Arial"/>
              <a:buChar char="•"/>
            </a:pPr>
            <a:r>
              <a:rPr lang="en" sz="1300"/>
              <a:t>category, subcategory, brand, season_tag</a:t>
            </a:r>
          </a:p>
          <a:p>
            <a:pPr marL="457200" lvl="0" indent="-342900" algn="l" rtl="0">
              <a:spcAft>
                <a:spcPts val="350"/>
              </a:spcAft>
              <a:buFont typeface="Arial"/>
              <a:buChar char="•"/>
            </a:pPr>
            <a:r>
              <a:rPr lang="en" sz="1300"/>
              <a:t>mrp, profit_margin_pct, stock_level</a:t>
            </a:r>
          </a:p>
        </p:txBody>
      </p:sp>
      <p:sp>
        <p:nvSpPr>
          <p:cNvPr id="4" name="Body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500"/>
              </a:spcAft>
              <a:buNone/>
            </a:pPr>
            <a:r>
              <a:rPr lang="en" sz="1500" b="1"/>
              <a:t>dim_campaigns</a:t>
            </a:r>
          </a:p>
          <a:p>
            <a:pPr marL="457200" lvl="0" indent="-342900" algn="l" rtl="0">
              <a:spcAft>
                <a:spcPts val="350"/>
              </a:spcAft>
              <a:buFont typeface="Arial"/>
              <a:buChar char="•"/>
            </a:pPr>
            <a:r>
              <a:rPr lang="en" sz="1300"/>
              <a:t>campaign_id, campaign_name, expected_performance</a:t>
            </a:r>
          </a:p>
          <a:p>
            <a:pPr marL="457200" lvl="0" indent="-342900" algn="l" rtl="0">
              <a:spcAft>
                <a:spcPts val="700"/>
              </a:spcAft>
              <a:buFont typeface="Arial"/>
              <a:buChar char="•"/>
            </a:pPr>
            <a:r>
              <a:rPr lang="en" sz="1300"/>
              <a:t>9 named campaigns, e.g. Diwali Dhamaka, Big Billion Days, Republic Day Sale</a:t>
            </a:r>
          </a:p>
          <a:p>
            <a:pPr marL="0" lvl="0" indent="0" algn="l" rtl="0">
              <a:spcAft>
                <a:spcPts val="500"/>
              </a:spcAft>
              <a:buNone/>
            </a:pPr>
            <a:r>
              <a:rPr lang="en" sz="1500" b="1"/>
              <a:t>dim_date</a:t>
            </a:r>
          </a:p>
          <a:p>
            <a:pPr marL="457200" lvl="0" indent="-342900" algn="l" rtl="0">
              <a:spcAft>
                <a:spcPts val="350"/>
              </a:spcAft>
              <a:buFont typeface="Arial"/>
              <a:buChar char="•"/>
            </a:pPr>
            <a:r>
              <a:rPr lang="en" sz="1300"/>
              <a:t>full_date, year, month, quarter</a:t>
            </a:r>
          </a:p>
          <a:p>
            <a:pPr marL="457200" lvl="0" indent="-342900" algn="l" rtl="0">
              <a:spcAft>
                <a:spcPts val="350"/>
              </a:spcAft>
              <a:buFont typeface="Arial"/>
              <a:buChar char="•"/>
            </a:pPr>
            <a:r>
              <a:rPr lang="en" sz="1300"/>
              <a:t>month_name, day_name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The Dataset, in Numbers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900"/>
              </a:spcAft>
              <a:buNone/>
            </a:pPr>
            <a:r>
              <a:rPr lang="en" sz="1600" dirty="0"/>
              <a:t>January 2025 – May 2026, the dataset covers:</a:t>
            </a:r>
          </a:p>
          <a:p>
            <a:pPr marL="457200" lvl="0" indent="-342900" algn="l" rtl="0">
              <a:spcAft>
                <a:spcPts val="450"/>
              </a:spcAft>
              <a:buFont typeface="Arial"/>
              <a:buChar char="•"/>
            </a:pPr>
            <a:r>
              <a:rPr lang="en" sz="1600" dirty="0"/>
              <a:t>25,000 order rows / 24,500 unique orders / 4,000 customers</a:t>
            </a:r>
          </a:p>
          <a:p>
            <a:pPr marL="457200" lvl="0" indent="-342900" algn="l" rtl="0">
              <a:spcAft>
                <a:spcPts val="450"/>
              </a:spcAft>
              <a:buFont typeface="Arial"/>
              <a:buChar char="•"/>
            </a:pPr>
            <a:r>
              <a:rPr lang="en" sz="1600" dirty="0"/>
              <a:t>Average 6.25 orders per customer; 1,400 customers (35%) ordered more than once</a:t>
            </a:r>
          </a:p>
          <a:p>
            <a:pPr marL="457200" lvl="0" indent="-342900" algn="l" rtl="0">
              <a:spcAft>
                <a:spcPts val="450"/>
              </a:spcAft>
              <a:buFont typeface="Arial"/>
              <a:buChar char="•"/>
            </a:pPr>
            <a:r>
              <a:rPr lang="en" sz="1600" dirty="0"/>
              <a:t>22,295 Delivered (89.2%), 1,977 Returned (7.9%), 728 Cancelled (2.9%)</a:t>
            </a:r>
          </a:p>
          <a:p>
            <a:pPr marL="457200" lvl="0" indent="-342900" algn="l" rtl="0">
              <a:spcAft>
                <a:spcPts val="450"/>
              </a:spcAft>
              <a:buFont typeface="Arial"/>
              <a:buChar char="•"/>
            </a:pPr>
            <a:r>
              <a:rPr lang="en" sz="1600" dirty="0"/>
              <a:t>₹29.16 Cr total delivered revenue, ₹13,081 average order value</a:t>
            </a:r>
          </a:p>
          <a:p>
            <a:pPr marL="457200" lvl="0" indent="-342900" algn="l" rtl="0">
              <a:spcAft>
                <a:spcPts val="450"/>
              </a:spcAft>
              <a:buFont typeface="Arial"/>
              <a:buChar char="•"/>
            </a:pPr>
            <a:r>
              <a:rPr lang="en" sz="1600" dirty="0"/>
              <a:t>Best month: October 2025 (₹3.30 Cr). Weakest month: February 2025 (₹1.01 Cr)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Leadership: Questions We Answer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700"/>
              </a:spcAft>
              <a:buNone/>
            </a:pPr>
            <a:r>
              <a:rPr lang="en" sz="1300" i="1" dirty="0"/>
              <a:t>Page: Executive  |  Who: CEO, Business Head, Investors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 dirty="0"/>
              <a:t>Total revenue? </a:t>
            </a:r>
            <a:r>
              <a:rPr lang="en" sz="1600" dirty="0"/>
              <a:t>₹29.16 Cr (Jan 2025–May 2026)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 dirty="0"/>
              <a:t>This month's revenue? </a:t>
            </a:r>
            <a:r>
              <a:rPr lang="en" sz="1600" dirty="0"/>
              <a:t>₹2.02 Cr (May 2026)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 dirty="0"/>
              <a:t>How many customers? </a:t>
            </a:r>
            <a:r>
              <a:rPr lang="en" sz="1600" dirty="0"/>
              <a:t>4,000 costomer,1400 35% of them repeat buyers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 dirty="0"/>
              <a:t>Average order value? </a:t>
            </a:r>
            <a:r>
              <a:rPr lang="en" sz="1600" dirty="0"/>
              <a:t>₹13,081 per delivered order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 dirty="0"/>
              <a:t>Return rate? </a:t>
            </a:r>
            <a:r>
              <a:rPr lang="en" sz="1600" dirty="0"/>
              <a:t>7.9% — healthy (5–10% is normal)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 dirty="0"/>
              <a:t>Best state? </a:t>
            </a:r>
            <a:r>
              <a:rPr lang="en" sz="1600" dirty="0"/>
              <a:t>Delhi #1, then Karnataka, then Maharashtra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Operations: Questions We Answer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700"/>
              </a:spcAft>
              <a:buNone/>
            </a:pPr>
            <a:r>
              <a:rPr lang="en" sz="1300" i="1"/>
              <a:t>Pages: Operation + Second Operation  |  Who: Ops Manager, Analyst, Campaign Manager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/>
              <a:t>Best campaign? </a:t>
            </a:r>
            <a:r>
              <a:rPr lang="en" sz="1600"/>
              <a:t>Diwali Dhamaka — 1,758 orders in October alone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/>
              <a:t>Cancelled orders? </a:t>
            </a:r>
            <a:r>
              <a:rPr lang="en" sz="1600"/>
              <a:t>728 total, about 2.9% cancellation rate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/>
              <a:t>Best-selling category? </a:t>
            </a:r>
            <a:r>
              <a:rPr lang="en" sz="1600"/>
              <a:t>Electronics — over 60% of revenue most months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/>
              <a:t>Do discounts drive volume? </a:t>
            </a:r>
            <a:r>
              <a:rPr lang="en" sz="1600"/>
              <a:t>11–20% discount bucket has the highest order volume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b="1"/>
              <a:t>Delivered vs returned? </a:t>
            </a:r>
            <a:r>
              <a:rPr lang="en" sz="1600"/>
              <a:t>22,295 delivered vs 1,977 returned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Spike: October 2025 — The Diwali Effect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Aft>
                <a:spcPts val="900"/>
              </a:spcAft>
              <a:buNone/>
            </a:pPr>
            <a:r>
              <a:rPr lang="en" sz="1400" b="1" dirty="0"/>
              <a:t>Revenue ₹3.30 Cr  ·  3,183 orders  ·  1,529 customers  ·  +50.4% vs September +120.6% vs aug</a:t>
            </a:r>
          </a:p>
          <a:p>
            <a:pPr marL="0" lvl="0" indent="0" algn="l" rtl="0">
              <a:spcAft>
                <a:spcPts val="900"/>
              </a:spcAft>
              <a:buNone/>
            </a:pPr>
            <a:r>
              <a:rPr lang="en" sz="1600" dirty="0"/>
              <a:t>October 2025 is the biggest spike in the whole dataset — orders jumped 50% in a single month, right after September's pre-festive buildup.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dirty="0"/>
              <a:t>Diwali Dhamaka campaign alone brought in 1,758 orders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dirty="0"/>
              <a:t>Big Billion Days added another 1,425 orders, running at the same time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dirty="0"/>
              <a:t>Electronics made up 62% of the month's revenue (₹2.04 Cr)</a:t>
            </a:r>
          </a:p>
          <a:p>
            <a:pPr marL="457200" lvl="0" indent="-342900" algn="l" rtl="0">
              <a:spcAft>
                <a:spcPts val="700"/>
              </a:spcAft>
              <a:buFont typeface="Arial"/>
              <a:buChar char="•"/>
            </a:pPr>
            <a:r>
              <a:rPr lang="en" sz="1600" dirty="0"/>
              <a:t>Delhi, Karnataka and Maharashtra all surged together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600" i="1" dirty="0"/>
              <a:t>Takeaway: festive season + sale campaigns together are our biggest revenue driver. Plan inventory and campaign budget for October in advance next year.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Dip: Jun–Aug 2025 — Monsoon Slump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Aft>
                <a:spcPts val="900"/>
              </a:spcAft>
              <a:buNone/>
            </a:pPr>
            <a:r>
              <a:rPr lang="en" sz="1400" b="1" dirty="0"/>
              <a:t>Jun ₹1.34 Cr  →  Jul ₹1.19 Cr  →  Aug ₹1.08 Cr  —  3 months declining in a row</a:t>
            </a:r>
          </a:p>
          <a:p>
            <a:pPr marL="0" lvl="0" indent="0" algn="l" rtl="0">
              <a:spcAft>
                <a:spcPts val="900"/>
              </a:spcAft>
              <a:buNone/>
            </a:pPr>
            <a:r>
              <a:rPr lang="en" sz="1600" dirty="0"/>
              <a:t>From May's ₹2.21 Cr peak to August's ₹1.08 Cr is a 51% drop over three months — the longest decline in the dataset.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dirty="0"/>
              <a:t>"Monsoon Saver Sale" campaign managed only 263 orders in July, 240 in August — it barely worked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dirty="0"/>
              <a:t>"Back to School" in June got just 606 orders; 592 orders came in with no campaign at all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dirty="0"/>
              <a:t>August had only 646  customers — the lowest of any month</a:t>
            </a:r>
          </a:p>
          <a:p>
            <a:pPr marL="457200" lvl="0" indent="-342900" algn="l" rtl="0">
              <a:spcAft>
                <a:spcPts val="700"/>
              </a:spcAft>
              <a:buFont typeface="Arial"/>
              <a:buChar char="•"/>
            </a:pPr>
            <a:r>
              <a:rPr lang="en" sz="1600" dirty="0"/>
              <a:t>No major festive event falls in this window — it's pure organic demand, and it's weak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600" i="1" dirty="0"/>
              <a:t>Takeaway: review monsoon campaign spend, the Monsoon Saver Sale isn't earning its budget. Avoid heavy inventory bets in this window.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 dirty="0"/>
              <a:t>Dashboard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endParaRPr lang="e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2E1446-4099-2AB8-50E7-1AD39C0FF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59" y="1152474"/>
            <a:ext cx="4439022" cy="34864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B44F36-8BEA-92C6-F5F8-A7A281C39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781" y="1152473"/>
            <a:ext cx="4149460" cy="34864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Pattern: February — Same Dip, Both Years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Aft>
                <a:spcPts val="900"/>
              </a:spcAft>
              <a:buNone/>
            </a:pPr>
            <a:r>
              <a:rPr lang="en" sz="1400" b="1" dirty="0"/>
              <a:t>Feb 2025: ₹1.01 Cr (792 customers)   |   Feb 2026: ₹1.04 Cr (804 customers)</a:t>
            </a:r>
          </a:p>
          <a:p>
            <a:pPr marL="0" lvl="0" indent="0" algn="l" rtl="0">
              <a:spcAft>
                <a:spcPts val="900"/>
              </a:spcAft>
              <a:buNone/>
            </a:pPr>
            <a:r>
              <a:rPr lang="en" sz="1600" dirty="0"/>
              <a:t>February dips every single year in this dataset — both years show almost the exact same pattern, so this looks structural, not random.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dirty="0"/>
              <a:t>Wedding Bonus campaign performs nearly identically both years — around 480–488 orders, consistently weak</a:t>
            </a:r>
          </a:p>
          <a:p>
            <a:pPr marL="457200" lvl="0" indent="-342900" algn="l" rtl="0">
              <a:spcAft>
                <a:spcPts val="400"/>
              </a:spcAft>
              <a:buFont typeface="Arial"/>
              <a:buChar char="•"/>
            </a:pPr>
            <a:r>
              <a:rPr lang="en" sz="1600" dirty="0"/>
              <a:t>February is only 28 days — fewer days means fewer orders by default</a:t>
            </a:r>
          </a:p>
          <a:p>
            <a:pPr marL="457200" lvl="0" indent="-342900" algn="l" rtl="0">
              <a:spcAft>
                <a:spcPts val="700"/>
              </a:spcAft>
              <a:buFont typeface="Arial"/>
              <a:buChar char="•"/>
            </a:pPr>
            <a:r>
              <a:rPr lang="en" sz="1600" dirty="0"/>
              <a:t>Demand saturation right after Republic Day Sale in January — customers already bought what they wanted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600" i="1" dirty="0"/>
              <a:t>Takeaway: this is a structural, repeatable weak spot. Rethink Wedding Bonanza,  and factor the 28-day month into planning.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buNone/>
            </a:pPr>
            <a:r>
              <a:rPr lang="en" b="1"/>
              <a:t>Dashboard Walkthrough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300"/>
              </a:spcAft>
              <a:buNone/>
            </a:pPr>
            <a:r>
              <a:rPr lang="en" sz="1500" b="1" dirty="0"/>
              <a:t>Page 1 — Executive</a:t>
            </a:r>
          </a:p>
          <a:p>
            <a:pPr marL="0" lvl="0" indent="0" algn="l" rtl="0">
              <a:spcAft>
                <a:spcPts val="700"/>
              </a:spcAft>
              <a:buNone/>
            </a:pPr>
            <a:r>
              <a:rPr lang="en" sz="1300" dirty="0"/>
              <a:t>Revenue, orders, AOV and return rate cards, a revenue trend line with MOM,YOY And Forcast Line revenue by state map, and order status breakdown.</a:t>
            </a:r>
          </a:p>
          <a:p>
            <a:pPr marL="0" lvl="0" indent="0" algn="l" rtl="0">
              <a:spcAft>
                <a:spcPts val="300"/>
              </a:spcAft>
              <a:buNone/>
            </a:pPr>
            <a:r>
              <a:rPr lang="en" sz="1500" b="1" dirty="0"/>
              <a:t>Page 2 — Operation</a:t>
            </a:r>
          </a:p>
          <a:p>
            <a:pPr marL="0" lvl="0" indent="0" algn="l" rtl="0">
              <a:spcAft>
                <a:spcPts val="700"/>
              </a:spcAft>
              <a:buNone/>
            </a:pPr>
            <a:r>
              <a:rPr lang="en" sz="1300" dirty="0"/>
              <a:t>Delivered/returned/cancelled KPIs, campaign revenue funnel, campaign performance table, and membership type breakdown.</a:t>
            </a:r>
          </a:p>
          <a:p>
            <a:pPr marL="0" lvl="0" indent="0" algn="l" rtl="0">
              <a:spcAft>
                <a:spcPts val="300"/>
              </a:spcAft>
              <a:buNone/>
            </a:pPr>
            <a:r>
              <a:rPr lang="en" sz="1500" b="1" dirty="0"/>
              <a:t>Page 3 — Second Operation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300" dirty="0"/>
              <a:t>Revenue and returns by category, top subcategories, discount bucket analysis, payment method split, and revenue by gender/age group.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How a Metric Is Actually Built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400" b="1"/>
              <a:t>Total Revenue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200"/>
              <a:t>SUM(net_revenue_amount), where net_revenue_amount is total_amount only if the order was Delivered, else 0.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200" i="1"/>
              <a:t>Why: a returned or cancelled order's money was never actually earned.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300" b="1"/>
              <a:t>Result: ₹29.16 Cr</a:t>
            </a:r>
          </a:p>
        </p:txBody>
      </p:sp>
      <p:sp>
        <p:nvSpPr>
          <p:cNvPr id="4" name="Body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400"/>
              </a:spcAft>
              <a:buNone/>
            </a:pPr>
            <a:r>
              <a:rPr lang="en" sz="1400" b="1"/>
              <a:t>Return Rate %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200"/>
              <a:t>DIVIDE(Total Returned Orders, Total Orders, 0)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200" i="1"/>
              <a:t>Total Returned Orders is just SUM(is_returned_order), a 1/0 flag set in dbt.</a:t>
            </a:r>
          </a:p>
          <a:p>
            <a:pPr marL="0" lvl="0" indent="0" algn="l" rtl="0">
              <a:spcAft>
                <a:spcPts val="600"/>
              </a:spcAft>
              <a:buNone/>
            </a:pPr>
            <a:r>
              <a:rPr lang="en" sz="1300" b="1"/>
              <a:t>Result: 7.9%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/>
              <a:t>Known Data Limitations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Aft>
                <a:spcPts val="450"/>
              </a:spcAft>
              <a:buFont typeface="Arial"/>
              <a:buChar char="•"/>
            </a:pPr>
            <a:r>
              <a:rPr lang="en" sz="1600" dirty="0"/>
              <a:t>500 of 25,000 rows share a duplicate order_id — handled with an MD5 surrogate key in fct_orders</a:t>
            </a:r>
          </a:p>
          <a:p>
            <a:pPr marL="457200" lvl="0" indent="-342900" algn="l" rtl="0">
              <a:spcAft>
                <a:spcPts val="450"/>
              </a:spcAft>
              <a:buFont typeface="Arial"/>
              <a:buChar char="•"/>
            </a:pPr>
            <a:r>
              <a:rPr lang="en" sz="1600" dirty="0"/>
              <a:t>campaign_id is nullable — about 49% of June 2025 orders had no campaign attribution at all</a:t>
            </a:r>
          </a:p>
          <a:p>
            <a:pPr marL="457200" lvl="0" indent="-342900" algn="l" rtl="0">
              <a:spcAft>
                <a:spcPts val="450"/>
              </a:spcAft>
              <a:buFont typeface="Arial"/>
              <a:buChar char="•"/>
            </a:pPr>
            <a:r>
              <a:rPr lang="en" sz="1600" dirty="0"/>
              <a:t>profit_margin_pct is a snapshot at ingestion time, not historical — old profit figures may be off if margins changed since</a:t>
            </a:r>
          </a:p>
          <a:p>
            <a:pPr marL="457200" lvl="0" indent="-342900" algn="l" rtl="0">
              <a:spcAft>
                <a:spcPts val="450"/>
              </a:spcAft>
              <a:buFont typeface="Arial"/>
              <a:buChar char="•"/>
            </a:pPr>
            <a:r>
              <a:rPr lang="en" sz="1600" dirty="0"/>
              <a:t>stock_level is also a snapshot, not real-time inventory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1450000"/>
            <a:ext cx="8520600" cy="22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buNone/>
            </a:pPr>
            <a:r>
              <a:rPr lang="en" sz="4000" b="1" dirty="0"/>
              <a:t>Thank You</a:t>
            </a:r>
          </a:p>
          <a:p>
            <a:pPr marL="0" lvl="0" indent="0" algn="ctr" rtl="0">
              <a:spcBef>
                <a:spcPts val="1200"/>
              </a:spcBef>
              <a:buNone/>
            </a:pPr>
            <a:endParaRPr lang="en" sz="1800" b="1" dirty="0">
              <a:solidFill>
                <a:srgbClr val="0086D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el Labs">
  <a:themeElements>
    <a:clrScheme name="Simple Light">
      <a:dk1>
        <a:srgbClr val="0086D6"/>
      </a:dk1>
      <a:lt1>
        <a:srgbClr val="FFFFFF"/>
      </a:lt1>
      <a:dk2>
        <a:srgbClr val="000000"/>
      </a:dk2>
      <a:lt2>
        <a:srgbClr val="EEEEEE"/>
      </a:lt2>
      <a:accent1>
        <a:srgbClr val="62B5E5"/>
      </a:accent1>
      <a:accent2>
        <a:srgbClr val="00A3E0"/>
      </a:accent2>
      <a:accent3>
        <a:srgbClr val="0C2340"/>
      </a:accent3>
      <a:accent4>
        <a:srgbClr val="C8C9C7"/>
      </a:accent4>
      <a:accent5>
        <a:srgbClr val="888B8D"/>
      </a:accent5>
      <a:accent6>
        <a:srgbClr val="333F48"/>
      </a:accent6>
      <a:hlink>
        <a:srgbClr val="FE5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1695</Words>
  <Application>Microsoft Office PowerPoint</Application>
  <PresentationFormat>On-screen Show (16:9)</PresentationFormat>
  <Paragraphs>159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Times New Roman</vt:lpstr>
      <vt:lpstr>Open Sans</vt:lpstr>
      <vt:lpstr>Arial</vt:lpstr>
      <vt:lpstr>Montserrat</vt:lpstr>
      <vt:lpstr>Revel Labs</vt:lpstr>
      <vt:lpstr>E-Commerce Analytics Project </vt:lpstr>
      <vt:lpstr>Agenda</vt:lpstr>
      <vt:lpstr>What This Project Does</vt:lpstr>
      <vt:lpstr>How Data Moves: M1 to M2</vt:lpstr>
      <vt:lpstr># Project Structure </vt:lpstr>
      <vt:lpstr>fct_orders — The Fact Table</vt:lpstr>
      <vt:lpstr>The Dimension Tables</vt:lpstr>
      <vt:lpstr>The Dataset, in Numbers</vt:lpstr>
      <vt:lpstr>Leadership: Questions We Answer</vt:lpstr>
      <vt:lpstr>Operations: Questions We Answer</vt:lpstr>
      <vt:lpstr>Spike: October 2025 — The Diwali Effect</vt:lpstr>
      <vt:lpstr>Dip: Jun–Aug 2025 — Monsoon Slump</vt:lpstr>
      <vt:lpstr>Dashboard</vt:lpstr>
      <vt:lpstr>Pattern: February — Same Dip, Both Years</vt:lpstr>
      <vt:lpstr>Dashboard Walkthrough</vt:lpstr>
      <vt:lpstr>How a Metric Is Actually Built</vt:lpstr>
      <vt:lpstr>Known Data Limitations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windows11</dc:creator>
  <cp:lastModifiedBy>Rudra Sharma</cp:lastModifiedBy>
  <cp:revision>1</cp:revision>
  <dcterms:modified xsi:type="dcterms:W3CDTF">2026-06-24T03:49:58Z</dcterms:modified>
</cp:coreProperties>
</file>